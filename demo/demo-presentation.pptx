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ჯავშანი</c:v>
                </c:pt>
              </c:strCache>
            </c:strRef>
          </c:tx>
          <c:spPr>
            <a:solidFill>
              <a:srgbClr val="1445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933"/>
                    </a:solidFill>
                    <a:latin typeface="Sylfae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 დღე</c:v>
                  </c:pt>
                  <c:pt idx="1">
                    <c:v>6 დღე</c:v>
                  </c:pt>
                  <c:pt idx="2">
                    <c:v>10 დღე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</c:v>
                </c:pt>
                <c:pt idx="1">
                  <c:v>2110</c:v>
                </c:pt>
                <c:pt idx="2">
                  <c:v>4000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F2933"/>
                  </a:solidFill>
                  <a:latin typeface="Sylfae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682"/>
                </a:solidFill>
                <a:latin typeface="Sylfae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097280"/>
            <a:ext cx="3840480" cy="384048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" name="loopCircle"/>
          <p:cNvSpPr/>
          <p:nvPr/>
        </p:nvSpPr>
        <p:spPr>
          <a:xfrm>
            <a:off x="457200" y="5029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loop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22376"/>
            <a:ext cx="475488" cy="475488"/>
          </a:xfrm>
          <a:prstGeom prst="rect">
            <a:avLst/>
          </a:prstGeom>
        </p:spPr>
      </p:pic>
      <p:sp>
        <p:nvSpPr>
          <p:cNvPr id="5" name="loopSpin"/>
          <p:cNvSpPr/>
          <p:nvPr/>
        </p:nvSpPr>
        <p:spPr>
          <a:xfrm>
            <a:off x="8366760" y="4572000"/>
            <a:ext cx="329184" cy="329184"/>
          </a:xfrm>
          <a:prstGeom prst="rect">
            <a:avLst/>
          </a:prstGeom>
          <a:ln w="19050">
            <a:solidFill>
              <a:srgbClr val="E07A5F"/>
            </a:solidFill>
            <a:prstDash val="solid"/>
          </a:ln>
        </p:spPr>
      </p:sp>
      <p:sp>
        <p:nvSpPr>
          <p:cNvPr id="6" name="animA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UBTECH UWORLD: ჰუმანოიდი სახლში</a:t>
            </a:r>
            <a:endParaRPr lang="en-US" sz="3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E07A5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გარღვევა თუ ჰაიპი?</a:t>
            </a:r>
            <a:endParaRPr lang="en-US" sz="3100" dirty="0"/>
          </a:p>
        </p:txBody>
      </p:sp>
      <p:sp>
        <p:nvSpPr>
          <p:cNvPr id="7" name="animB"/>
          <p:cNvSpPr/>
          <p:nvPr/>
        </p:nvSpPr>
        <p:spPr>
          <a:xfrm>
            <a:off x="457200" y="32735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CD0D4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კრიტიკული ანალიზი: ჩინეთის რობოტიკის გიგანტი ემოციურ თანამგზავრ-რობოტს ყიდის — განვასხვავოთ რეალური მარკეტინგისგან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CD0D4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UBTECH · UWORLD U1 · ოფიციალური გაშვება: 30 ივნისი, 2026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CD0D4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აკადემიური პრეზენტაცია · AICS50 with Python</a:t>
            </a:r>
            <a:endParaRPr lang="en-US" sz="12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50" fill="hold" dur="indefinite">
                <p:stCondLst>
                  <p:cond delay="0"/>
                </p:stCondLst>
                <p:childTnLst>
                  <p:par>
                    <p:cTn id="51" presetID="6" presetClass="emph" presetSubtype="0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52" dur="1900" autoRev="1" repeatCount="indefinite" fill="hold"/>
                            <p:tgtEl>
                              <p:spTgt spid="3"/>
                            </p:tgtEl>
                          </p:cBhvr>
                          <p:by x="106000" y="106000"/>
                        </p:animScale>
                      </p:childTnLst>
                    </p:cTn>
                  </p:par>
                  <p:par>
                    <p:cTn id="53" presetID="6" presetClass="emph" presetSubtype="0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54" dur="1900" autoRev="1" repeatCount="indefinite" fill="hold"/>
                            <p:tgtEl>
                              <p:spTgt spid="4"/>
                            </p:tgtEl>
                          </p:cBhvr>
                          <p:by x="106000" y="106000"/>
                        </p:animScale>
                      </p:childTnLst>
                    </p:cTn>
                  </p:par>
                  <p:par>
                    <p:cTn id="55" presetID="8" presetClass="emph" presetSubtype="0" fill="hold">
                      <p:stCondLst>
                        <p:cond delay="0"/>
                      </p:stCondLst>
                      <p:childTnLst>
                        <p:animRot by="21600000">
                          <p:cBhvr>
                            <p:cTn id="56" dur="14000" repeatCount="indefinite" fill="hold"/>
                            <p:tgtEl>
                              <p:spTgt spid="5"/>
                            </p:tgtEl>
                          </p:cBhvr>
                        </p:animRo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opCircle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4454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loop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12064"/>
            <a:ext cx="310896" cy="310896"/>
          </a:xfrm>
          <a:prstGeom prst="rect">
            <a:avLst/>
          </a:prstGeom>
        </p:spPr>
      </p:pic>
      <p:sp>
        <p:nvSpPr>
          <p:cNvPr id="4" name="loopSpin"/>
          <p:cNvSpPr/>
          <p:nvPr/>
        </p:nvSpPr>
        <p:spPr>
          <a:xfrm>
            <a:off x="8366760" y="4572000"/>
            <a:ext cx="329184" cy="329184"/>
          </a:xfrm>
          <a:prstGeom prst="rect">
            <a:avLst/>
          </a:prstGeom>
          <a:ln w="19050">
            <a:solidFill>
              <a:srgbClr val="E07A5F"/>
            </a:solidFill>
            <a:prstDash val="solid"/>
          </a:ln>
        </p:spPr>
      </p:sp>
      <p:sp>
        <p:nvSpPr>
          <p:cNvPr id="5" name="animA"/>
          <p:cNvSpPr/>
          <p:nvPr/>
        </p:nvSpPr>
        <p:spPr>
          <a:xfrm>
            <a:off x="1170432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რა წარადგინა UBTECH-მა</a:t>
            </a:r>
            <a:endParaRPr lang="en-US" sz="2500" dirty="0"/>
          </a:p>
        </p:txBody>
      </p:sp>
      <p:sp>
        <p:nvSpPr>
          <p:cNvPr id="6" name="animB"/>
          <p:cNvSpPr/>
          <p:nvPr/>
        </p:nvSpPr>
        <p:spPr>
          <a:xfrm>
            <a:off x="548640" y="1280160"/>
            <a:ext cx="8183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2026 წლის 20 მაისს (სიმბოლურ „520“ დღეს) UBTECH-მა წარადგინა UWORLD — მისი პირველი სამომხმარებლო ჰუმანოიდური ბრენდი; სლოგანი: „ამიერიდან აღარასოდეს იქნები მარტო“.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პირველი პროდუქტი — U1: სრულზომიერი ბიონიკური რობოტი ემოციური თანამგზავრობისთვის, მამრობითი და მდედრობითი ვერსიებით. UBTECH მას „მსოფლიოში პირველ ულტრა-ბიონიკურ ჰუმანოიდს“ უწოდებს.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ეს მკვეთრი შემობრუნებაა: UBTECH (ჰონგ-კონგში ლისტინგული, პირველი ჩინური ჰუმანოიდ-კომპანია IPO-ზე) აქამდე ინდუსტრიულ რობოტებზე იყო ცნობილი — NIO, FAW-Volkswagen, Airbus, Texas Instruments.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ქარხნიდან საცხოვრებელ სახლში გადასვლა სრულიად ახალ გამოწვევებს ბადებს — უსაფრთხოება, პრივატულობა და ეთიკა.</a:t>
            </a:r>
            <a:endParaRPr lang="en-US" sz="1350" dirty="0"/>
          </a:p>
        </p:txBody>
      </p:sp>
    </p:spTree>
  </p:cSld>
  <p:clrMapOvr>
    <a:masterClrMapping/>
  </p:clrMapOvr>
  <p:transition xmlns:p="http://schemas.openxmlformats.org/presentationml/2006/main" spd="med">
    <p:push dir="l"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50" fill="hold" dur="indefinite">
                <p:stCondLst>
                  <p:cond delay="0"/>
                </p:stCondLst>
                <p:childTnLst>
                  <p:par>
                    <p:cTn id="51" presetID="6" presetClass="emph" presetSubtype="0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52" dur="1900" autoRev="1" repeatCount="indefinite" fill="hold"/>
                            <p:tgtEl>
                              <p:spTgt spid="2"/>
                            </p:tgtEl>
                          </p:cBhvr>
                          <p:by x="106000" y="106000"/>
                        </p:animScale>
                      </p:childTnLst>
                    </p:cTn>
                  </p:par>
                  <p:par>
                    <p:cTn id="53" presetID="6" presetClass="emph" presetSubtype="0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54" dur="1900" autoRev="1" repeatCount="indefinite" fill="hold"/>
                            <p:tgtEl>
                              <p:spTgt spid="3"/>
                            </p:tgtEl>
                          </p:cBhvr>
                          <p:by x="106000" y="106000"/>
                        </p:animScale>
                      </p:childTnLst>
                    </p:cTn>
                  </p:par>
                  <p:par>
                    <p:cTn id="55" presetID="8" presetClass="emph" presetSubtype="0" fill="hold">
                      <p:stCondLst>
                        <p:cond delay="0"/>
                      </p:stCondLst>
                      <p:childTnLst>
                        <p:animRot by="21600000">
                          <p:cBhvr>
                            <p:cTn id="56" dur="14000" repeatCount="indefinite" fill="hold"/>
                            <p:tgtEl>
                              <p:spTgt spid="4"/>
                            </p:tgtEl>
                          </p:cBhvr>
                        </p:animRo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opCircle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4454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loop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12064"/>
            <a:ext cx="310896" cy="310896"/>
          </a:xfrm>
          <a:prstGeom prst="rect">
            <a:avLst/>
          </a:prstGeom>
        </p:spPr>
      </p:pic>
      <p:sp>
        <p:nvSpPr>
          <p:cNvPr id="4" name="loopSpin"/>
          <p:cNvSpPr/>
          <p:nvPr/>
        </p:nvSpPr>
        <p:spPr>
          <a:xfrm>
            <a:off x="8366760" y="4572000"/>
            <a:ext cx="329184" cy="329184"/>
          </a:xfrm>
          <a:prstGeom prst="rect">
            <a:avLst/>
          </a:prstGeom>
          <a:ln w="19050">
            <a:solidFill>
              <a:srgbClr val="E07A5F"/>
            </a:solidFill>
            <a:prstDash val="solid"/>
          </a:ln>
        </p:spPr>
      </p:sp>
      <p:sp>
        <p:nvSpPr>
          <p:cNvPr id="5" name="animA"/>
          <p:cNvSpPr/>
          <p:nvPr/>
        </p:nvSpPr>
        <p:spPr>
          <a:xfrm>
            <a:off x="1170432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სპეციფიკაციები და ფასი</a:t>
            </a:r>
            <a:endParaRPr lang="en-US" sz="2500" dirty="0"/>
          </a:p>
        </p:txBody>
      </p:sp>
      <p:graphicFrame>
        <p:nvGraphicFramePr>
          <p:cNvPr id="4" name="anim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1381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514600"/>
                <a:gridCol w="25146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ylfaen" pitchFamily="34" charset="0"/>
                          <a:ea typeface="Sylfaen" pitchFamily="34" charset="-122"/>
                          <a:cs typeface="Sylfaen" pitchFamily="34" charset="-120"/>
                        </a:rPr>
                        <a:t>მახასიათებელი</a:t>
                      </a:r>
                      <a:endParaRPr lang="en-US" sz="1300" dirty="0">
                        <a:latin typeface="Sylfaen" charset="0"/>
                        <a:ea typeface="Sylfaen" charset="0"/>
                        <a:cs typeface="Sylfae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ylfaen" pitchFamily="34" charset="0"/>
                          <a:ea typeface="Sylfaen" pitchFamily="34" charset="-122"/>
                          <a:cs typeface="Sylfaen" pitchFamily="34" charset="-120"/>
                        </a:rPr>
                        <a:t>მამრობითი U1</a:t>
                      </a:r>
                      <a:endParaRPr lang="en-US" sz="1300" dirty="0">
                        <a:latin typeface="Sylfaen" charset="0"/>
                        <a:ea typeface="Sylfaen" charset="0"/>
                        <a:cs typeface="Sylfae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ylfaen" pitchFamily="34" charset="0"/>
                          <a:ea typeface="Sylfaen" pitchFamily="34" charset="-122"/>
                          <a:cs typeface="Sylfaen" pitchFamily="34" charset="-120"/>
                        </a:rPr>
                        <a:t>მდედრობითი U1</a:t>
                      </a:r>
                      <a:endParaRPr lang="en-US" sz="1300" dirty="0">
                        <a:latin typeface="Sylfaen" charset="0"/>
                        <a:ea typeface="Sylfaen" charset="0"/>
                        <a:cs typeface="Sylfae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5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Sylfaen" pitchFamily="34" charset="0"/>
                          <a:ea typeface="Sylfaen" pitchFamily="34" charset="-122"/>
                          <a:cs typeface="Sylfaen" pitchFamily="34" charset="-120"/>
                        </a:rPr>
                        <a:t>სიმაღლე</a:t>
                      </a:r>
                      <a:endParaRPr lang="en-US" sz="1200" dirty="0">
                        <a:latin typeface="Sylfaen" charset="0"/>
                        <a:ea typeface="Sylfaen" charset="0"/>
                        <a:cs typeface="Sylfae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Sylfaen" pitchFamily="34" charset="0"/>
                          <a:ea typeface="Sylfaen" pitchFamily="34" charset="-122"/>
                          <a:cs typeface="Sylfaen" pitchFamily="34" charset="-120"/>
                        </a:rPr>
                        <a:t>183 სმ</a:t>
                      </a:r>
                      <a:endParaRPr lang="en-US" sz="1200" dirty="0">
                        <a:latin typeface="Sylfaen" charset="0"/>
                        <a:ea typeface="Sylfaen" charset="0"/>
                        <a:cs typeface="Sylfae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Sylfaen" pitchFamily="34" charset="0"/>
                          <a:ea typeface="Sylfaen" pitchFamily="34" charset="-122"/>
                          <a:cs typeface="Sylfaen" pitchFamily="34" charset="-120"/>
                        </a:rPr>
                        <a:t>168 სმ</a:t>
                      </a:r>
                      <a:endParaRPr lang="en-US" sz="1200" dirty="0">
                        <a:latin typeface="Sylfaen" charset="0"/>
                        <a:ea typeface="Sylfaen" charset="0"/>
                        <a:cs typeface="Sylfae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Sylfaen" pitchFamily="34" charset="0"/>
                          <a:ea typeface="Sylfaen" pitchFamily="34" charset="-122"/>
                          <a:cs typeface="Sylfaen" pitchFamily="34" charset="-120"/>
                        </a:rPr>
                        <a:t>წონა</a:t>
                      </a:r>
                      <a:endParaRPr lang="en-US" sz="1200" dirty="0">
                        <a:latin typeface="Sylfaen" charset="0"/>
                        <a:ea typeface="Sylfaen" charset="0"/>
                        <a:cs typeface="Sylfae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Sylfaen" pitchFamily="34" charset="0"/>
                          <a:ea typeface="Sylfaen" pitchFamily="34" charset="-122"/>
                          <a:cs typeface="Sylfaen" pitchFamily="34" charset="-120"/>
                        </a:rPr>
                        <a:t>42 კგ</a:t>
                      </a:r>
                      <a:endParaRPr lang="en-US" sz="1200" dirty="0">
                        <a:latin typeface="Sylfaen" charset="0"/>
                        <a:ea typeface="Sylfaen" charset="0"/>
                        <a:cs typeface="Sylfae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Sylfaen" pitchFamily="34" charset="0"/>
                          <a:ea typeface="Sylfaen" pitchFamily="34" charset="-122"/>
                          <a:cs typeface="Sylfaen" pitchFamily="34" charset="-120"/>
                        </a:rPr>
                        <a:t>35.2 კგ</a:t>
                      </a:r>
                      <a:endParaRPr lang="en-US" sz="1200" dirty="0">
                        <a:latin typeface="Sylfaen" charset="0"/>
                        <a:ea typeface="Sylfaen" charset="0"/>
                        <a:cs typeface="Sylfae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Sylfaen" pitchFamily="34" charset="0"/>
                          <a:ea typeface="Sylfaen" pitchFamily="34" charset="-122"/>
                          <a:cs typeface="Sylfaen" pitchFamily="34" charset="-120"/>
                        </a:rPr>
                        <a:t>თავისუფლების ხარისხი</a:t>
                      </a:r>
                      <a:endParaRPr lang="en-US" sz="1200" dirty="0">
                        <a:latin typeface="Sylfaen" charset="0"/>
                        <a:ea typeface="Sylfaen" charset="0"/>
                        <a:cs typeface="Sylfae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Sylfaen" pitchFamily="34" charset="0"/>
                          <a:ea typeface="Sylfaen" pitchFamily="34" charset="-122"/>
                          <a:cs typeface="Sylfaen" pitchFamily="34" charset="-120"/>
                        </a:rPr>
                        <a:t>88 DoF</a:t>
                      </a:r>
                      <a:endParaRPr lang="en-US" sz="1200" dirty="0">
                        <a:latin typeface="Sylfaen" charset="0"/>
                        <a:ea typeface="Sylfaen" charset="0"/>
                        <a:cs typeface="Sylfae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Sylfaen" pitchFamily="34" charset="0"/>
                          <a:ea typeface="Sylfaen" pitchFamily="34" charset="-122"/>
                          <a:cs typeface="Sylfaen" pitchFamily="34" charset="-120"/>
                        </a:rPr>
                        <a:t>88 DoF</a:t>
                      </a:r>
                      <a:endParaRPr lang="en-US" sz="1200" dirty="0">
                        <a:latin typeface="Sylfaen" charset="0"/>
                        <a:ea typeface="Sylfaen" charset="0"/>
                        <a:cs typeface="Sylfae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Sylfaen" pitchFamily="34" charset="0"/>
                          <a:ea typeface="Sylfaen" pitchFamily="34" charset="-122"/>
                          <a:cs typeface="Sylfaen" pitchFamily="34" charset="-120"/>
                        </a:rPr>
                        <a:t>ბატარეა</a:t>
                      </a:r>
                      <a:endParaRPr lang="en-US" sz="1200" dirty="0">
                        <a:latin typeface="Sylfaen" charset="0"/>
                        <a:ea typeface="Sylfaen" charset="0"/>
                        <a:cs typeface="Sylfae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Sylfaen" pitchFamily="34" charset="0"/>
                          <a:ea typeface="Sylfaen" pitchFamily="34" charset="-122"/>
                          <a:cs typeface="Sylfaen" pitchFamily="34" charset="-120"/>
                        </a:rPr>
                        <a:t>2–4 სთ (გამოცვლის გარეშე)</a:t>
                      </a:r>
                      <a:endParaRPr lang="en-US" sz="1200" dirty="0">
                        <a:latin typeface="Sylfaen" charset="0"/>
                        <a:ea typeface="Sylfaen" charset="0"/>
                        <a:cs typeface="Sylfae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Sylfaen" pitchFamily="34" charset="0"/>
                          <a:ea typeface="Sylfaen" pitchFamily="34" charset="-122"/>
                          <a:cs typeface="Sylfaen" pitchFamily="34" charset="-120"/>
                        </a:rPr>
                        <a:t>2–4 სთ</a:t>
                      </a:r>
                      <a:endParaRPr lang="en-US" sz="1200" dirty="0">
                        <a:latin typeface="Sylfaen" charset="0"/>
                        <a:ea typeface="Sylfaen" charset="0"/>
                        <a:cs typeface="Sylfae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Sylfaen" pitchFamily="34" charset="0"/>
                          <a:ea typeface="Sylfaen" pitchFamily="34" charset="-122"/>
                          <a:cs typeface="Sylfaen" pitchFamily="34" charset="-120"/>
                        </a:rPr>
                        <a:t>ფასი (სავარაუდო)*</a:t>
                      </a:r>
                      <a:endParaRPr lang="en-US" sz="1200" dirty="0">
                        <a:latin typeface="Sylfaen" charset="0"/>
                        <a:ea typeface="Sylfaen" charset="0"/>
                        <a:cs typeface="Sylfae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Sylfaen" pitchFamily="34" charset="0"/>
                          <a:ea typeface="Sylfaen" pitchFamily="34" charset="-122"/>
                          <a:cs typeface="Sylfaen" pitchFamily="34" charset="-120"/>
                        </a:rPr>
                        <a:t>~$30,000</a:t>
                      </a:r>
                      <a:endParaRPr lang="en-US" sz="1200" dirty="0">
                        <a:latin typeface="Sylfaen" charset="0"/>
                        <a:ea typeface="Sylfaen" charset="0"/>
                        <a:cs typeface="Sylfae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Sylfaen" pitchFamily="34" charset="0"/>
                          <a:ea typeface="Sylfaen" pitchFamily="34" charset="-122"/>
                          <a:cs typeface="Sylfaen" pitchFamily="34" charset="-120"/>
                        </a:rPr>
                        <a:t>~$30,000</a:t>
                      </a:r>
                      <a:endParaRPr lang="en-US" sz="1200" dirty="0">
                        <a:latin typeface="Sylfaen" charset="0"/>
                        <a:ea typeface="Sylfaen" charset="0"/>
                        <a:cs typeface="Sylfae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0233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ასევე: ემოცია-მცნობი AI-მოდელი, ლოკალურად დაშიფრული მეხსიერება, გარეგნობის კასტომიზაცია, Wi-Fi.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48640" y="43342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682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* ფასი ოფიციალურად დაუდასტურებელია — ცხადდება 30 ივნისის ღონისძიებაზე (სხვადასხვა წყაროს შეფასებაა).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med">
    <p:cover dir="l"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50" fill="hold" dur="indefinite">
                <p:stCondLst>
                  <p:cond delay="0"/>
                </p:stCondLst>
                <p:childTnLst>
                  <p:par>
                    <p:cTn id="51" presetID="6" presetClass="emph" presetSubtype="0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52" dur="1900" autoRev="1" repeatCount="indefinite" fill="hold"/>
                            <p:tgtEl>
                              <p:spTgt spid="2"/>
                            </p:tgtEl>
                          </p:cBhvr>
                          <p:by x="106000" y="106000"/>
                        </p:animScale>
                      </p:childTnLst>
                    </p:cTn>
                  </p:par>
                  <p:par>
                    <p:cTn id="53" presetID="6" presetClass="emph" presetSubtype="0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54" dur="1900" autoRev="1" repeatCount="indefinite" fill="hold"/>
                            <p:tgtEl>
                              <p:spTgt spid="3"/>
                            </p:tgtEl>
                          </p:cBhvr>
                          <p:by x="106000" y="106000"/>
                        </p:animScale>
                      </p:childTnLst>
                    </p:cTn>
                  </p:par>
                  <p:par>
                    <p:cTn id="55" presetID="8" presetClass="emph" presetSubtype="0" fill="hold">
                      <p:stCondLst>
                        <p:cond delay="0"/>
                      </p:stCondLst>
                      <p:childTnLst>
                        <p:animRot by="21600000">
                          <p:cBhvr>
                            <p:cTn id="56" dur="14000" repeatCount="indefinite" fill="hold"/>
                            <p:tgtEl>
                              <p:spTgt spid="4"/>
                            </p:tgtEl>
                          </p:cBhvr>
                        </p:animRo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opCircle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4454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loop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12064"/>
            <a:ext cx="310896" cy="310896"/>
          </a:xfrm>
          <a:prstGeom prst="rect">
            <a:avLst/>
          </a:prstGeom>
        </p:spPr>
      </p:pic>
      <p:sp>
        <p:nvSpPr>
          <p:cNvPr id="4" name="loopSpin"/>
          <p:cNvSpPr/>
          <p:nvPr/>
        </p:nvSpPr>
        <p:spPr>
          <a:xfrm>
            <a:off x="8366760" y="4572000"/>
            <a:ext cx="329184" cy="329184"/>
          </a:xfrm>
          <a:prstGeom prst="rect">
            <a:avLst/>
          </a:prstGeom>
          <a:ln w="19050">
            <a:solidFill>
              <a:srgbClr val="E07A5F"/>
            </a:solidFill>
            <a:prstDash val="solid"/>
          </a:ln>
        </p:spPr>
      </p:sp>
      <p:sp>
        <p:nvSpPr>
          <p:cNvPr id="5" name="animA"/>
          <p:cNvSpPr/>
          <p:nvPr/>
        </p:nvSpPr>
        <p:spPr>
          <a:xfrm>
            <a:off x="1170432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ჰაიპი vs რეალობა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3931920" cy="3063240"/>
          </a:xfrm>
          <a:prstGeom prst="roundRect">
            <a:avLst>
              <a:gd name="adj" fmla="val 2985"/>
            </a:avLst>
          </a:prstGeom>
          <a:solidFill>
            <a:srgbClr val="FBEDE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" y="14264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7A5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რას ჰპირდება (მარკეტინგი)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9808" y="1828800"/>
            <a:ext cx="35661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„მსოფლიოში პირველი ულტრა-ბიონიკური ჰუმანოიდი“.</a:t>
            </a:r>
            <a:endParaRPr lang="en-US" sz="120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ცოცხალივით იერი — სილიკონის კანი, რეალისტური თმა.</a:t>
            </a:r>
            <a:endParaRPr lang="en-US" sz="120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ემოცია-მცნობი AI, რომელიც „იზრდება“ შენთან ერთად.</a:t>
            </a:r>
            <a:endParaRPr lang="en-US" sz="120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თანამგზავრი, რომელიც „მარტოობას გფარავს“.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3063240"/>
          </a:xfrm>
          <a:prstGeom prst="roundRect">
            <a:avLst>
              <a:gd name="adj" fmla="val 2985"/>
            </a:avLst>
          </a:prstGeom>
          <a:solidFill>
            <a:srgbClr val="EAF1F2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64608" y="14264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454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რა არის სინამდვილეში</a:t>
            </a:r>
            <a:endParaRPr lang="en-US" sz="1450" dirty="0"/>
          </a:p>
        </p:txBody>
      </p:sp>
      <p:sp>
        <p:nvSpPr>
          <p:cNvPr id="11" name="animB"/>
          <p:cNvSpPr/>
          <p:nvPr/>
        </p:nvSpPr>
        <p:spPr>
          <a:xfrm>
            <a:off x="4864608" y="1828800"/>
            <a:ext cx="365760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დადის მხოლოდ ბრტყელ ზედაპირზე — კიბე, რთული რელიეფი ან საოჯახო საქმე მისთვის მიუწვდომელია.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მომხმარებელი ვერ დააპროგრამებს ახალ ფუნქციებს (დახურული პლატფორმა).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ბატარეა 2–4 სთ, გამოცვლის გარეშე — უწყვეტი მუშაობა შეუძლებელია.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AI-მოდელის არქიტექტურა, ბენჩმარკი ან უსაფრთხოების ტესტი გაუმჟღავნებელია — განცხადებები „მარკეტინგული დონისაა“.</a:t>
            </a:r>
            <a:endParaRPr lang="en-US" sz="1150" dirty="0"/>
          </a:p>
        </p:txBody>
      </p:sp>
    </p:spTree>
  </p:cSld>
  <p:clrMapOvr>
    <a:masterClrMapping/>
  </p:clrMapOvr>
  <p:transition xmlns:p="http://schemas.openxmlformats.org/presentationml/2006/main" spd="med">
    <p:push dir="l"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50" fill="hold" dur="indefinite">
                <p:stCondLst>
                  <p:cond delay="0"/>
                </p:stCondLst>
                <p:childTnLst>
                  <p:par>
                    <p:cTn id="51" presetID="6" presetClass="emph" presetSubtype="0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52" dur="1900" autoRev="1" repeatCount="indefinite" fill="hold"/>
                            <p:tgtEl>
                              <p:spTgt spid="2"/>
                            </p:tgtEl>
                          </p:cBhvr>
                          <p:by x="106000" y="106000"/>
                        </p:animScale>
                      </p:childTnLst>
                    </p:cTn>
                  </p:par>
                  <p:par>
                    <p:cTn id="53" presetID="6" presetClass="emph" presetSubtype="0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54" dur="1900" autoRev="1" repeatCount="indefinite" fill="hold"/>
                            <p:tgtEl>
                              <p:spTgt spid="3"/>
                            </p:tgtEl>
                          </p:cBhvr>
                          <p:by x="106000" y="106000"/>
                        </p:animScale>
                      </p:childTnLst>
                    </p:cTn>
                  </p:par>
                  <p:par>
                    <p:cTn id="55" presetID="8" presetClass="emph" presetSubtype="0" fill="hold">
                      <p:stCondLst>
                        <p:cond delay="0"/>
                      </p:stCondLst>
                      <p:childTnLst>
                        <p:animRot by="21600000">
                          <p:cBhvr>
                            <p:cTn id="56" dur="14000" repeatCount="indefinite" fill="hold"/>
                            <p:tgtEl>
                              <p:spTgt spid="4"/>
                            </p:tgtEl>
                          </p:cBhvr>
                        </p:animRo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opCircle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4454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loop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12064"/>
            <a:ext cx="310896" cy="310896"/>
          </a:xfrm>
          <a:prstGeom prst="rect">
            <a:avLst/>
          </a:prstGeom>
        </p:spPr>
      </p:pic>
      <p:sp>
        <p:nvSpPr>
          <p:cNvPr id="4" name="loopSpin"/>
          <p:cNvSpPr/>
          <p:nvPr/>
        </p:nvSpPr>
        <p:spPr>
          <a:xfrm>
            <a:off x="8366760" y="4572000"/>
            <a:ext cx="329184" cy="329184"/>
          </a:xfrm>
          <a:prstGeom prst="rect">
            <a:avLst/>
          </a:prstGeom>
          <a:ln w="19050">
            <a:solidFill>
              <a:srgbClr val="E07A5F"/>
            </a:solidFill>
            <a:prstDash val="solid"/>
          </a:ln>
        </p:spPr>
      </p:sp>
      <p:sp>
        <p:nvSpPr>
          <p:cNvPr id="5" name="animA"/>
          <p:cNvSpPr/>
          <p:nvPr/>
        </p:nvSpPr>
        <p:spPr>
          <a:xfrm>
            <a:off x="1170432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კომერციული მხარე: მოთხოვნა რეალურია</a:t>
            </a:r>
            <a:endParaRPr lang="en-US" sz="2500" dirty="0"/>
          </a:p>
        </p:txBody>
      </p:sp>
      <p:sp>
        <p:nvSpPr>
          <p:cNvPr id="6" name="animB"/>
          <p:cNvSpPr/>
          <p:nvPr/>
        </p:nvSpPr>
        <p:spPr>
          <a:xfrm>
            <a:off x="548640" y="128016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წინასწარი შეკვეთები JD.com-ზე 2 ივნისს გაიხსნა; დეპოზიტი — 3,000 იუანი (~$450).</a:t>
            </a:r>
            <a:endParaRPr lang="en-US" sz="130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10 დღეში ~4,000 ჯავშანი და $1.4 მილიონზე მეტი დეპოზიტი დაგროვდა.</a:t>
            </a:r>
            <a:endParaRPr lang="en-US" sz="130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მიწოდება — 15 სექტემბრამდე; ჯერ მხოლოდ ჩინეთში; პროდუქტი მარკეტირებულია „მხოლოდ ზრდასრულთათვის“.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წინასწარი შეკვეთები (JD.com)</a:t>
            </a:r>
            <a:endParaRPr lang="en-US" sz="11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40680" y="1645920"/>
          <a:ext cx="33375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440680" y="426110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7682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ძლიერი მოთხოვნა ≠ დადასტურებული სარგებლიანობა — ეს ინტერესია, არა შესაძლებლობის მტკიცებულება.</a:t>
            </a:r>
            <a:endParaRPr lang="en-US" sz="950" dirty="0"/>
          </a:p>
        </p:txBody>
      </p:sp>
    </p:spTree>
  </p:cSld>
  <p:clrMapOvr>
    <a:masterClrMapping/>
  </p:clrMapOvr>
  <p:transition xmlns:p="http://schemas.openxmlformats.org/presentationml/2006/main" spd="med">
    <p:wipe dir="d"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50" fill="hold" dur="indefinite">
                <p:stCondLst>
                  <p:cond delay="0"/>
                </p:stCondLst>
                <p:childTnLst>
                  <p:par>
                    <p:cTn id="51" presetID="6" presetClass="emph" presetSubtype="0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52" dur="1900" autoRev="1" repeatCount="indefinite" fill="hold"/>
                            <p:tgtEl>
                              <p:spTgt spid="2"/>
                            </p:tgtEl>
                          </p:cBhvr>
                          <p:by x="106000" y="106000"/>
                        </p:animScale>
                      </p:childTnLst>
                    </p:cTn>
                  </p:par>
                  <p:par>
                    <p:cTn id="53" presetID="6" presetClass="emph" presetSubtype="0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54" dur="1900" autoRev="1" repeatCount="indefinite" fill="hold"/>
                            <p:tgtEl>
                              <p:spTgt spid="3"/>
                            </p:tgtEl>
                          </p:cBhvr>
                          <p:by x="106000" y="106000"/>
                        </p:animScale>
                      </p:childTnLst>
                    </p:cTn>
                  </p:par>
                  <p:par>
                    <p:cTn id="55" presetID="8" presetClass="emph" presetSubtype="0" fill="hold">
                      <p:stCondLst>
                        <p:cond delay="0"/>
                      </p:stCondLst>
                      <p:childTnLst>
                        <p:animRot by="21600000">
                          <p:cBhvr>
                            <p:cTn id="56" dur="14000" repeatCount="indefinite" fill="hold"/>
                            <p:tgtEl>
                              <p:spTgt spid="4"/>
                            </p:tgtEl>
                          </p:cBhvr>
                        </p:animRo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opCircle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4454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loop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12064"/>
            <a:ext cx="310896" cy="310896"/>
          </a:xfrm>
          <a:prstGeom prst="rect">
            <a:avLst/>
          </a:prstGeom>
        </p:spPr>
      </p:pic>
      <p:sp>
        <p:nvSpPr>
          <p:cNvPr id="4" name="loopSpin"/>
          <p:cNvSpPr/>
          <p:nvPr/>
        </p:nvSpPr>
        <p:spPr>
          <a:xfrm>
            <a:off x="8366760" y="4572000"/>
            <a:ext cx="329184" cy="329184"/>
          </a:xfrm>
          <a:prstGeom prst="rect">
            <a:avLst/>
          </a:prstGeom>
          <a:ln w="19050">
            <a:solidFill>
              <a:srgbClr val="E07A5F"/>
            </a:solidFill>
            <a:prstDash val="solid"/>
          </a:ln>
        </p:spPr>
      </p:sp>
      <p:sp>
        <p:nvSpPr>
          <p:cNvPr id="5" name="animA"/>
          <p:cNvSpPr/>
          <p:nvPr/>
        </p:nvSpPr>
        <p:spPr>
          <a:xfrm>
            <a:off x="1170432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რეაქციები: ცნობილი ხმები</a:t>
            </a:r>
            <a:endParaRPr lang="en-US" sz="2500" dirty="0"/>
          </a:p>
        </p:txBody>
      </p:sp>
      <p:sp>
        <p:nvSpPr>
          <p:cNvPr id="6" name="animB"/>
          <p:cNvSpPr/>
          <p:nvPr/>
        </p:nvSpPr>
        <p:spPr>
          <a:xfrm>
            <a:off x="548640" y="1261872"/>
            <a:ext cx="8183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ეთიკის მკვლევრები: შფოთვა ემოციური მიჯაჭვულობის, ყოველთვის-ჩართული მეხსიერების პრივატულობისა და მანქანებთან ინტიმური ურთიერთობების „ნორმალიზების“ გამო.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ანალიტიკოსები: AI-ის სუბსტანცია „მარკეტინგული დონისაა“ — გაუმჟღავნებელია არქიტექტურა, ბენჩმარკი და red-team ტესტი; ასევე — IP-კასტომიზაციის საავტორო რისკი.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მარეგულირებლები: FTC-მ 2025 წლიდან გაამკაცრა სოციალური რობოტიკისა და მონაცემთა პრაქტიკის ზედამხედველობა.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საზოგადოება: რეაქცია გაიყო — ხშირი ჩივილი „ხისტ“, არაბუნებრივ მოძრაობაზე.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UBTECH-ის პასუხი: სენსიტიური ინტერაქციები მუშავდება ოფლაინ, მონაცემებს მომხმარებელი აკონტროლებს.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med">
    <p:cover dir="l"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50" fill="hold" dur="indefinite">
                <p:stCondLst>
                  <p:cond delay="0"/>
                </p:stCondLst>
                <p:childTnLst>
                  <p:par>
                    <p:cTn id="51" presetID="6" presetClass="emph" presetSubtype="0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52" dur="1900" autoRev="1" repeatCount="indefinite" fill="hold"/>
                            <p:tgtEl>
                              <p:spTgt spid="2"/>
                            </p:tgtEl>
                          </p:cBhvr>
                          <p:by x="106000" y="106000"/>
                        </p:animScale>
                      </p:childTnLst>
                    </p:cTn>
                  </p:par>
                  <p:par>
                    <p:cTn id="53" presetID="6" presetClass="emph" presetSubtype="0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54" dur="1900" autoRev="1" repeatCount="indefinite" fill="hold"/>
                            <p:tgtEl>
                              <p:spTgt spid="3"/>
                            </p:tgtEl>
                          </p:cBhvr>
                          <p:by x="106000" y="106000"/>
                        </p:animScale>
                      </p:childTnLst>
                    </p:cTn>
                  </p:par>
                  <p:par>
                    <p:cTn id="55" presetID="8" presetClass="emph" presetSubtype="0" fill="hold">
                      <p:stCondLst>
                        <p:cond delay="0"/>
                      </p:stCondLst>
                      <p:childTnLst>
                        <p:animRot by="21600000">
                          <p:cBhvr>
                            <p:cTn id="56" dur="14000" repeatCount="indefinite" fill="hold"/>
                            <p:tgtEl>
                              <p:spTgt spid="4"/>
                            </p:tgtEl>
                          </p:cBhvr>
                        </p:animRo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opCircle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4454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loop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12064"/>
            <a:ext cx="310896" cy="310896"/>
          </a:xfrm>
          <a:prstGeom prst="rect">
            <a:avLst/>
          </a:prstGeom>
        </p:spPr>
      </p:pic>
      <p:sp>
        <p:nvSpPr>
          <p:cNvPr id="4" name="loopSpin"/>
          <p:cNvSpPr/>
          <p:nvPr/>
        </p:nvSpPr>
        <p:spPr>
          <a:xfrm>
            <a:off x="8366760" y="4572000"/>
            <a:ext cx="329184" cy="329184"/>
          </a:xfrm>
          <a:prstGeom prst="rect">
            <a:avLst/>
          </a:prstGeom>
          <a:ln w="19050">
            <a:solidFill>
              <a:srgbClr val="E07A5F"/>
            </a:solidFill>
            <a:prstDash val="solid"/>
          </a:ln>
        </p:spPr>
      </p:sp>
      <p:sp>
        <p:nvSpPr>
          <p:cNvPr id="5" name="animA"/>
          <p:cNvSpPr/>
          <p:nvPr/>
        </p:nvSpPr>
        <p:spPr>
          <a:xfrm>
            <a:off x="1170432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რატომ მნიშვნელოვანია და კონტექსტი</a:t>
            </a:r>
            <a:endParaRPr lang="en-US" sz="2500" dirty="0"/>
          </a:p>
        </p:txBody>
      </p:sp>
      <p:sp>
        <p:nvSpPr>
          <p:cNvPr id="6" name="animB"/>
          <p:cNvSpPr/>
          <p:nvPr/>
        </p:nvSpPr>
        <p:spPr>
          <a:xfrm>
            <a:off x="548640" y="1280160"/>
            <a:ext cx="8183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შესაძლო „iPhone-მომენტი“ ჰუმანოიდებისთვის — გადასვლა ქარხნიდან საცხოვრებელ სახლში, მასობრივ ბაზარზე.</a:t>
            </a:r>
            <a:endParaRPr lang="en-US" sz="130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გეოპოლიტიკა: ჩინეთი იყენებს მიწოდების ჯაჭვის უპირატესობას, რომ ჰუმანოიდი მასებამდე Tesla Optimus-ზე ადრე მიიტანოს.</a:t>
            </a:r>
            <a:endParaRPr lang="en-US" sz="130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ხალხმრავალი ჩინური ბაზარი: NOETIX, Aheadform, DroidUp — UWORLD ერთ-ერთი მოთამაშეა „სინთეზური ადამიანის“ რბოლაში.</a:t>
            </a:r>
            <a:endParaRPr lang="en-US" sz="130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ბიზნეს-კონტექსტი: 2025-ში UBTECH-ის სრულზომიერი ჰუმანოიდების შემოსავალი 821 მლნ იუანამდე გაიზარდა (შემოსავლის 41%), მიწოდება — 1,079 ერთეული (წინა წლის 3-დან).</a:t>
            </a:r>
            <a:endParaRPr lang="en-US" sz="1300" dirty="0"/>
          </a:p>
        </p:txBody>
      </p:sp>
    </p:spTree>
  </p:cSld>
  <p:clrMapOvr>
    <a:masterClrMapping/>
  </p:clrMapOvr>
  <p:transition xmlns:p="http://schemas.openxmlformats.org/presentationml/2006/main" spd="med">
    <p:push dir="l"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50" fill="hold" dur="indefinite">
                <p:stCondLst>
                  <p:cond delay="0"/>
                </p:stCondLst>
                <p:childTnLst>
                  <p:par>
                    <p:cTn id="51" presetID="6" presetClass="emph" presetSubtype="0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52" dur="1900" autoRev="1" repeatCount="indefinite" fill="hold"/>
                            <p:tgtEl>
                              <p:spTgt spid="2"/>
                            </p:tgtEl>
                          </p:cBhvr>
                          <p:by x="106000" y="106000"/>
                        </p:animScale>
                      </p:childTnLst>
                    </p:cTn>
                  </p:par>
                  <p:par>
                    <p:cTn id="53" presetID="6" presetClass="emph" presetSubtype="0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54" dur="1900" autoRev="1" repeatCount="indefinite" fill="hold"/>
                            <p:tgtEl>
                              <p:spTgt spid="3"/>
                            </p:tgtEl>
                          </p:cBhvr>
                          <p:by x="106000" y="106000"/>
                        </p:animScale>
                      </p:childTnLst>
                    </p:cTn>
                  </p:par>
                  <p:par>
                    <p:cTn id="55" presetID="8" presetClass="emph" presetSubtype="0" fill="hold">
                      <p:stCondLst>
                        <p:cond delay="0"/>
                      </p:stCondLst>
                      <p:childTnLst>
                        <p:animRot by="21600000">
                          <p:cBhvr>
                            <p:cTn id="56" dur="14000" repeatCount="indefinite" fill="hold"/>
                            <p:tgtEl>
                              <p:spTgt spid="4"/>
                            </p:tgtEl>
                          </p:cBhvr>
                        </p:animRo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3200400" cy="32004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" name="loopCircle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loop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21208"/>
            <a:ext cx="338328" cy="338328"/>
          </a:xfrm>
          <a:prstGeom prst="rect">
            <a:avLst/>
          </a:prstGeom>
        </p:spPr>
      </p:pic>
      <p:sp>
        <p:nvSpPr>
          <p:cNvPr id="5" name="loopSpin"/>
          <p:cNvSpPr/>
          <p:nvPr/>
        </p:nvSpPr>
        <p:spPr>
          <a:xfrm>
            <a:off x="8302752" y="2286000"/>
            <a:ext cx="384048" cy="384048"/>
          </a:xfrm>
          <a:prstGeom prst="rect">
            <a:avLst/>
          </a:prstGeom>
          <a:ln w="19050">
            <a:solidFill>
              <a:srgbClr val="E07A5F"/>
            </a:solidFill>
            <a:prstDash val="solid"/>
          </a:ln>
        </p:spPr>
      </p:sp>
      <p:sp>
        <p:nvSpPr>
          <p:cNvPr id="6" name="animA"/>
          <p:cNvSpPr/>
          <p:nvPr/>
        </p:nvSpPr>
        <p:spPr>
          <a:xfrm>
            <a:off x="1170432" y="384048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დასკვნა და რას ველოდოთ</a:t>
            </a:r>
            <a:endParaRPr lang="en-US" sz="2500" dirty="0"/>
          </a:p>
        </p:txBody>
      </p:sp>
      <p:sp>
        <p:nvSpPr>
          <p:cNvPr id="7" name="animB"/>
          <p:cNvSpPr/>
          <p:nvPr/>
        </p:nvSpPr>
        <p:spPr>
          <a:xfrm>
            <a:off x="548640" y="1280160"/>
            <a:ext cx="8138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ეტაპი — დიახ, მაგრამ კომერციალიზაციისა და ადამიანისებრი ფორმის, და არა AI-გარღვევის. ფიზიკური სარგებლიანობა შეზღუდულია, ხოლო „ემოციური ინტელექტი“ ჯერ დაუმტკიცებელია.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30 ივნისს (დღეს) გასარკვევია: რეალური ფასი და სპეცი, უსაფრთხოების სერტიფიკატები, და გადაიქცევა თუ არა ჯავშნები მიწოდებად.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ნამდვილი კითხვა: არის თუ არა „თანამგზავრობა და ყოფნა“ რეალური მასობრივი ბაზარი — და როგორ მოვაგვაროთ ეთიკა, პრივატულობა და რეგულაცია, სანამ ჰუმანოიდი ჩვენს სახლში შემოვა.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3840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ბიბლიოგრაფია (APA 7):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409651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CD0D4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Interesting Engineering (2026); Pandaily (2026); Let’s Data Science (2026); gagadget (2026); Gasgoo &amp; TechEBlog (2026).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CD0D4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China Daily Brief (2026, May 20). Domesticating the Humanoid: UBTECH Launches UWORLD.</a:t>
            </a:r>
            <a:endParaRPr lang="en-US" sz="8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50" fill="hold" dur="indefinite">
                <p:stCondLst>
                  <p:cond delay="0"/>
                </p:stCondLst>
                <p:childTnLst>
                  <p:par>
                    <p:cTn id="51" presetID="6" presetClass="emph" presetSubtype="0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52" dur="1900" autoRev="1" repeatCount="indefinite" fill="hold"/>
                            <p:tgtEl>
                              <p:spTgt spid="3"/>
                            </p:tgtEl>
                          </p:cBhvr>
                          <p:by x="106000" y="106000"/>
                        </p:animScale>
                      </p:childTnLst>
                    </p:cTn>
                  </p:par>
                  <p:par>
                    <p:cTn id="53" presetID="6" presetClass="emph" presetSubtype="0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54" dur="1900" autoRev="1" repeatCount="indefinite" fill="hold"/>
                            <p:tgtEl>
                              <p:spTgt spid="4"/>
                            </p:tgtEl>
                          </p:cBhvr>
                          <p:by x="106000" y="106000"/>
                        </p:animScale>
                      </p:childTnLst>
                    </p:cTn>
                  </p:par>
                  <p:par>
                    <p:cTn id="55" presetID="8" presetClass="emph" presetSubtype="0" fill="hold">
                      <p:stCondLst>
                        <p:cond delay="0"/>
                      </p:stCondLst>
                      <p:childTnLst>
                        <p:animRot by="21600000">
                          <p:cBhvr>
                            <p:cTn id="56" dur="14000" repeatCount="indefinite" fill="hold"/>
                            <p:tgtEl>
                              <p:spTgt spid="5"/>
                            </p:tgtEl>
                          </p:cBhvr>
                        </p:animRo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UBTECH UWORLD critical analysis</dc:title>
  <dc:subject>PptxGenJS Presentation</dc:subject>
  <dc:creator>AICS50</dc:creator>
  <cp:lastModifiedBy>AICS50</cp:lastModifiedBy>
  <cp:revision>1</cp:revision>
  <dcterms:created xsi:type="dcterms:W3CDTF">2026-06-30T19:39:09Z</dcterms:created>
  <dcterms:modified xsi:type="dcterms:W3CDTF">2026-06-30T19:39:09Z</dcterms:modified>
</cp:coreProperties>
</file>